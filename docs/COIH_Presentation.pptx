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6E74"/>
                </a:solidFill>
                <a:latin typeface="Poppins"/>
              </a:rPr>
              <a:t>1 · PROBLEM STATEMENT · ASSOCIATE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>
                <a:solidFill>
                  <a:srgbClr val="161617"/>
                </a:solidFill>
                <a:latin typeface="Poppins"/>
              </a:rPr>
              <a:t>Four questions every account asks — and never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Different roles, same challenge: the knowledge that runs an account lives in people and threads, so a human is used as the retrieval mechanism.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5A5A"/>
                </a:solidFill>
                <a:latin typeface="Poppins"/>
              </a:rPr>
              <a:t>COIH — Central Operational Intelligence Hub · UST D3 2026 · Fix It Forward with Claude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697480" cy="64008"/>
          </a:xfrm>
          <a:prstGeom prst="rect">
            <a:avLst/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24231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617"/>
                </a:solidFill>
                <a:latin typeface="Poppins"/>
              </a:rPr>
              <a:t>1  Return from leave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6E74"/>
                </a:solidFill>
                <a:latin typeface="Poppins"/>
              </a:rPr>
              <a:t>“What changed while I was away?”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242316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Scroll back through 100+ unread mails, chats and ticket threads; decisions taken in threads you weren't on are simply missed.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93192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968496"/>
            <a:ext cx="2240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4232C"/>
                </a:solidFill>
                <a:latin typeface="Poppins"/>
              </a:rPr>
              <a:t>3–5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52544"/>
            <a:ext cx="22402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per leave instance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16002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0128" y="1600200"/>
            <a:ext cx="2697480" cy="64008"/>
          </a:xfrm>
          <a:prstGeom prst="rect">
            <a:avLst/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7288" y="1737360"/>
            <a:ext cx="24231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617"/>
                </a:solidFill>
                <a:latin typeface="Poppins"/>
              </a:rPr>
              <a:t>2  New-joiner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084831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6E74"/>
                </a:solidFill>
                <a:latin typeface="Poppins"/>
              </a:rPr>
              <a:t>“How do I become productive quickly?”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633472"/>
            <a:ext cx="242316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KT calls that decay within a quarter, then months of asking someone else what the alert means.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47288" y="393192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38728" y="3968496"/>
            <a:ext cx="2240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26B00"/>
                </a:solidFill>
                <a:latin typeface="Poppins"/>
              </a:rPr>
              <a:t>60–90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4352544"/>
            <a:ext cx="22402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to independent resolution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16002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63056" y="1600200"/>
            <a:ext cx="2697480" cy="64008"/>
          </a:xfrm>
          <a:prstGeom prst="rect">
            <a:avLst/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0216" y="1737360"/>
            <a:ext cx="24231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617"/>
                </a:solidFill>
                <a:latin typeface="Poppins"/>
              </a:rPr>
              <a:t>3  Knowledge on exit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2084831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6E74"/>
                </a:solidFill>
                <a:latin typeface="Poppins"/>
              </a:rPr>
              <a:t>“What happens when the person who knows leaves?”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2633472"/>
            <a:ext cx="242316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The runbook they never wrote is the outage we take next quarter. Successors rediscover it through incidents.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0216" y="393192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6" y="3968496"/>
            <a:ext cx="2240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26B00"/>
                </a:solidFill>
                <a:latin typeface="Poppins"/>
              </a:rPr>
              <a:t>Knowledge exits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4352544"/>
            <a:ext cx="22402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with the associate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15984" y="16002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15984" y="1600200"/>
            <a:ext cx="2697480" cy="64008"/>
          </a:xfrm>
          <a:prstGeom prst="rect">
            <a:avLst/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53144" y="1737360"/>
            <a:ext cx="24231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617"/>
                </a:solidFill>
                <a:latin typeface="Poppins"/>
              </a:rPr>
              <a:t>4  Answers without waiting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144" y="2084831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6E74"/>
                </a:solidFill>
                <a:latin typeface="Poppins"/>
              </a:rPr>
              <a:t>“How do I get an answer without interrupting someone?”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144" y="2633472"/>
            <a:ext cx="242316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A Teams ping, a call, a screen share: one question billed to two people's day plus context-switch loss.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53144" y="393192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44584" y="3968496"/>
            <a:ext cx="2240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4232C"/>
                </a:solidFill>
                <a:latin typeface="Poppins"/>
              </a:rPr>
              <a:t>1 question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4352544"/>
            <a:ext cx="22402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= two people's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029200"/>
            <a:ext cx="11274552" cy="1234440"/>
          </a:xfrm>
          <a:prstGeom prst="roundRect">
            <a:avLst>
              <a:gd name="adj" fmla="val 6000"/>
            </a:avLst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5120640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FE3E5"/>
                </a:solidFill>
                <a:latin typeface="Poppins"/>
              </a:rPr>
              <a:t>ONE ROOT CAUSE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413248"/>
            <a:ext cx="51206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Poppins"/>
              </a:rPr>
              <a:t>Operational knowledge is tacit, scattered and individually held. Writing it down is unpaid, unrewarded work, so it never happens.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120640"/>
            <a:ext cx="5394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FE3E5"/>
                </a:solidFill>
                <a:latin typeface="Poppins"/>
              </a:rPr>
              <a:t>WHY EXISTING FIXES 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413248"/>
            <a:ext cx="5440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Wikis &amp; runbooks </a:t>
            </a:r>
            <a:r>
              <a:rPr sz="950" b="0">
                <a:solidFill>
                  <a:srgbClr val="FFFFFF"/>
                </a:solidFill>
                <a:latin typeface="Poppins"/>
              </a:rPr>
              <a:t>decay: updating them is manual work outside the job.</a:t>
            </a:r>
          </a:p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Enterprise search </a:t>
            </a:r>
            <a:r>
              <a:rPr sz="950" b="0">
                <a:solidFill>
                  <a:srgbClr val="FFFFFF"/>
                </a:solidFill>
                <a:latin typeface="Poppins"/>
              </a:rPr>
              <a:t>only finds what was written down — never the tacit part.</a:t>
            </a:r>
          </a:p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Generic AI assistants </a:t>
            </a:r>
            <a:r>
              <a:rPr sz="950" b="0">
                <a:solidFill>
                  <a:srgbClr val="FFFFFF"/>
                </a:solidFill>
                <a:latin typeface="Poppins"/>
              </a:rPr>
              <a:t>answer confidently from the internet; a wrong answer reaches production.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6E74"/>
                </a:solidFill>
                <a:latin typeface="Poppins"/>
              </a:rPr>
              <a:t>2 · ROI AND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>
                <a:solidFill>
                  <a:srgbClr val="161617"/>
                </a:solidFill>
                <a:latin typeface="Poppins"/>
              </a:rPr>
              <a:t>One knowledge layer, four returns — 120k–200k hours a year to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5A5A5A"/>
                </a:solidFill>
                <a:latin typeface="Poppins"/>
              </a:rPr>
              <a:t>Hours are derived from the stated 3–5 h leave-return estimate for a 5,000-person </a:t>
            </a:r>
            <a:r>
              <a:rPr sz="1200" b="0" dirty="0" err="1">
                <a:solidFill>
                  <a:srgbClr val="5A5A5A"/>
                </a:solidFill>
                <a:latin typeface="Poppins"/>
              </a:rPr>
              <a:t>organisation</a:t>
            </a:r>
            <a:r>
              <a:rPr sz="1200" b="0" dirty="0">
                <a:solidFill>
                  <a:srgbClr val="5A5A5A"/>
                </a:solidFill>
                <a:latin typeface="Poppins"/>
              </a:rPr>
              <a:t>. Ramp and interrupt targets are hypotheses to validate against an internal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5A5A"/>
                </a:solidFill>
                <a:latin typeface="Poppins"/>
              </a:rPr>
              <a:t>COIH — Central Operational Intelligence Hub · UST D3 2026 · Fix It Forward with Claude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24688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06E74"/>
                </a:solidFill>
                <a:latin typeface="Poppins"/>
              </a:rPr>
              <a:t>3–5 h → &lt; 1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leave-return catch-up in the prototype
(target in production: &lt; 30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60020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1664208"/>
            <a:ext cx="24688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E7F4F"/>
                </a:solidFill>
                <a:latin typeface="Poppins"/>
              </a:rPr>
              <a:t>≈ 80 %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148840"/>
            <a:ext cx="24688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of the 120k–200k h/year catch-up window recovered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60020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1664208"/>
            <a:ext cx="24688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B26B00"/>
                </a:solidFill>
                <a:latin typeface="Poppins"/>
              </a:rPr>
              <a:t>60–90 → 30–45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148840"/>
            <a:ext cx="24688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new-joiner ramp to first independent 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984" y="160020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53144" y="1664208"/>
            <a:ext cx="2468880" cy="3477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06E74"/>
                </a:solidFill>
                <a:latin typeface="Poppins"/>
              </a:rPr>
              <a:t>100</a:t>
            </a:r>
            <a:r>
              <a:rPr sz="1900" b="1" dirty="0">
                <a:solidFill>
                  <a:srgbClr val="006E74"/>
                </a:solidFill>
                <a:latin typeface="Poppins"/>
              </a:rPr>
              <a:t>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148840"/>
            <a:ext cx="24688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of resolved incidents captured as knowledge (capture rate shown live)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3017520"/>
          <a:ext cx="6949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822">
                <a:tc>
                  <a:txBody>
                    <a:bodyPr/>
                    <a:lstStyle/>
                    <a:p>
                      <a:r>
                        <a:rPr sz="900" b="1" dirty="0">
                          <a:solidFill>
                            <a:srgbClr val="FFFFFF"/>
                          </a:solidFill>
                          <a:latin typeface="Poppins"/>
                        </a:rPr>
                        <a:t>Metric</a:t>
                      </a:r>
                    </a:p>
                  </a:txBody>
                  <a:tcPr marL="73152" marR="73152" marT="27432" marB="27432">
                    <a:solidFill>
                      <a:srgbClr val="006E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>
                          <a:solidFill>
                            <a:srgbClr val="FFFFFF"/>
                          </a:solidFill>
                          <a:latin typeface="Poppins"/>
                        </a:rPr>
                        <a:t>Current</a:t>
                      </a:r>
                    </a:p>
                  </a:txBody>
                  <a:tcPr marL="73152" marR="73152" marT="27432" marB="27432">
                    <a:solidFill>
                      <a:srgbClr val="006E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Poppins"/>
                        </a:rPr>
                        <a:t>Target</a:t>
                      </a:r>
                    </a:p>
                  </a:txBody>
                  <a:tcPr marL="73152" marR="73152" marT="27432" marB="27432">
                    <a:solidFill>
                      <a:srgbClr val="006E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1617"/>
                          </a:solidFill>
                          <a:latin typeface="Poppins"/>
                        </a:rPr>
                        <a:t>Leave-return catch-up (primary metric)</a:t>
                      </a:r>
                    </a:p>
                  </a:txBody>
                  <a:tcPr marL="73152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61617"/>
                          </a:solidFill>
                          <a:latin typeface="Poppins"/>
                        </a:rPr>
                        <a:t>3–5 h per instance</a:t>
                      </a:r>
                    </a:p>
                  </a:txBody>
                  <a:tcPr marL="73152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61617"/>
                          </a:solidFill>
                          <a:latin typeface="Poppins"/>
                        </a:rPr>
                        <a:t>&lt; 30 min per instance</a:t>
                      </a:r>
                    </a:p>
                  </a:txBody>
                  <a:tcPr marL="73152" marR="73152" marT="27432" marB="27432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1617"/>
                          </a:solidFill>
                          <a:latin typeface="Poppins"/>
                        </a:rPr>
                        <a:t>New-joiner ramp to independent resolution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61617"/>
                          </a:solidFill>
                          <a:latin typeface="Poppins"/>
                        </a:rPr>
                        <a:t>60–90 days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61617"/>
                          </a:solidFill>
                          <a:latin typeface="Poppins"/>
                        </a:rPr>
                        <a:t>30–45 days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1617"/>
                          </a:solidFill>
                          <a:latin typeface="Poppins"/>
                        </a:rPr>
                        <a:t>Senior-engineer interrupt load</a:t>
                      </a:r>
                    </a:p>
                  </a:txBody>
                  <a:tcPr marL="73152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61617"/>
                          </a:solidFill>
                          <a:latin typeface="Poppins"/>
                        </a:rPr>
                        <a:t>Recurring, unmeasured</a:t>
                      </a:r>
                    </a:p>
                  </a:txBody>
                  <a:tcPr marL="73152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61617"/>
                          </a:solidFill>
                          <a:latin typeface="Poppins"/>
                        </a:rPr>
                        <a:t>Baseline, then −30–40 %</a:t>
                      </a:r>
                    </a:p>
                  </a:txBody>
                  <a:tcPr marL="73152" marR="73152" marT="27432" marB="27432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1617"/>
                          </a:solidFill>
                          <a:latin typeface="Poppins"/>
                        </a:rPr>
                        <a:t>Repeat incidents with no captured resolution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61617"/>
                          </a:solidFill>
                          <a:latin typeface="Poppins"/>
                        </a:rPr>
                        <a:t>Majority uncaptured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61617"/>
                          </a:solidFill>
                          <a:latin typeface="Poppins"/>
                        </a:rPr>
                        <a:t>Every resolved incident captured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1617"/>
                          </a:solidFill>
                          <a:latin typeface="Poppins"/>
                        </a:rPr>
                        <a:t>Knowledge coverage rate</a:t>
                      </a:r>
                    </a:p>
                  </a:txBody>
                  <a:tcPr marL="73152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61617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61617"/>
                          </a:solidFill>
                          <a:latin typeface="Poppins"/>
                        </a:rPr>
                        <a:t>Share of questions answerable with sources</a:t>
                      </a:r>
                    </a:p>
                  </a:txBody>
                  <a:tcPr marL="73152" marR="73152" marT="27432" marB="27432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1617"/>
                          </a:solidFill>
                          <a:latin typeface="Poppins"/>
                        </a:rPr>
                        <a:t>Model cost per grounded answer (measured)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61617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161617"/>
                          </a:solidFill>
                          <a:latin typeface="Poppins"/>
                        </a:rPr>
                        <a:t>≈ $0.003–0.011 · 2–8 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680960" y="3017520"/>
            <a:ext cx="4050791" cy="2651760"/>
          </a:xfrm>
          <a:prstGeom prst="roundRect">
            <a:avLst>
              <a:gd name="adj" fmla="val 6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3108960"/>
            <a:ext cx="374903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6E74"/>
                </a:solidFill>
                <a:latin typeface="Poppins"/>
              </a:rPr>
              <a:t>WHO BENEFITS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383280"/>
            <a:ext cx="3749039" cy="1234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61617"/>
                </a:solidFill>
                <a:latin typeface="Poppins"/>
              </a:rPr>
              <a:t>Returning associates </a:t>
            </a:r>
            <a:r>
              <a:rPr sz="900" b="0">
                <a:solidFill>
                  <a:srgbClr val="161617"/>
                </a:solidFill>
                <a:latin typeface="Poppins"/>
              </a:rPr>
              <a:t>— minutes, not hours; no missed priority</a:t>
            </a:r>
          </a:p>
          <a:p>
            <a:pPr algn="l">
              <a:lnSpc>
                <a:spcPct val="105000"/>
              </a:lnSpc>
            </a:pPr>
            <a:r>
              <a:rPr sz="900" b="1">
                <a:solidFill>
                  <a:srgbClr val="161617"/>
                </a:solidFill>
                <a:latin typeface="Poppins"/>
              </a:rPr>
              <a:t>New joiners </a:t>
            </a:r>
            <a:r>
              <a:rPr sz="900" b="0">
                <a:solidFill>
                  <a:srgbClr val="161617"/>
                </a:solidFill>
                <a:latin typeface="Poppins"/>
              </a:rPr>
              <a:t>— independent sooner, less dependence on asking</a:t>
            </a:r>
          </a:p>
          <a:p>
            <a:pPr algn="l">
              <a:lnSpc>
                <a:spcPct val="105000"/>
              </a:lnSpc>
            </a:pPr>
            <a:r>
              <a:rPr sz="900" b="1">
                <a:solidFill>
                  <a:srgbClr val="161617"/>
                </a:solidFill>
                <a:latin typeface="Poppins"/>
              </a:rPr>
              <a:t>Senior engineers / SMEs </a:t>
            </a:r>
            <a:r>
              <a:rPr sz="900" b="0">
                <a:solidFill>
                  <a:srgbClr val="161617"/>
                </a:solidFill>
                <a:latin typeface="Poppins"/>
              </a:rPr>
              <a:t>— the same explanation is not given a fifth time</a:t>
            </a:r>
          </a:p>
          <a:p>
            <a:pPr algn="l">
              <a:lnSpc>
                <a:spcPct val="105000"/>
              </a:lnSpc>
            </a:pPr>
            <a:r>
              <a:rPr sz="900" b="1">
                <a:solidFill>
                  <a:srgbClr val="161617"/>
                </a:solidFill>
                <a:latin typeface="Poppins"/>
              </a:rPr>
              <a:t>Delivery leadership </a:t>
            </a:r>
            <a:r>
              <a:rPr sz="900" b="0">
                <a:solidFill>
                  <a:srgbClr val="161617"/>
                </a:solidFill>
                <a:latin typeface="Poppins"/>
              </a:rPr>
              <a:t>— attrition and rotation carry less knowledge risk</a:t>
            </a:r>
          </a:p>
          <a:p>
            <a:pPr algn="l">
              <a:lnSpc>
                <a:spcPct val="105000"/>
              </a:lnSpc>
            </a:pPr>
            <a:r>
              <a:rPr sz="900" b="1">
                <a:solidFill>
                  <a:srgbClr val="161617"/>
                </a:solidFill>
                <a:latin typeface="Poppins"/>
              </a:rPr>
              <a:t>Clients </a:t>
            </a:r>
            <a:r>
              <a:rPr sz="900" b="0">
                <a:solidFill>
                  <a:srgbClr val="161617"/>
                </a:solidFill>
                <a:latin typeface="Poppins"/>
              </a:rPr>
              <a:t>— faster, more consistent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709160"/>
            <a:ext cx="374903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6E74"/>
                </a:solidFill>
                <a:latin typeface="Poppins"/>
              </a:rPr>
              <a:t>HOW WE 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956048"/>
            <a:ext cx="3749039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Short survey of associates on our own account covering recent leave returns and onboarding (sample size stated) → before/after catch-up time, escalation contacts per ticket in the first 90 days, interrupt hours per week, capture rate.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06440"/>
            <a:ext cx="11274552" cy="502920"/>
          </a:xfrm>
          <a:prstGeom prst="roundRect">
            <a:avLst>
              <a:gd name="adj" fmla="val 6000"/>
            </a:avLst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Durable return: </a:t>
            </a:r>
            <a:r>
              <a:rPr sz="1000" b="0">
                <a:solidFill>
                  <a:srgbClr val="FFFFFF"/>
                </a:solidFill>
                <a:latin typeface="Poppins"/>
              </a:rPr>
              <a:t>operational knowledge stops being a personal asset and becomes an account asset. Each incident handled makes the next one cheaper — the knowledge base is a by-product of work that was happening anyway, so it does not decay.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6E74"/>
                </a:solidFill>
                <a:latin typeface="Poppins"/>
              </a:rPr>
              <a:t>3 · SOLUTION · CLAUDE CODE USAGE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617"/>
                </a:solidFill>
                <a:latin typeface="Poppins"/>
              </a:rPr>
              <a:t>COIH: the knowledge layer that builds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247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Answers grounded strictly in the account's own artifacts with a source on every claim — and captures new knowledge automatically from resolved incidents.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5A5A"/>
                </a:solidFill>
                <a:latin typeface="Poppins"/>
              </a:rPr>
              <a:t>COIH — Central Operational Intelligence Hub · UST D3 2026 · Fix It Forward with Claude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3840480" cy="466344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3566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6E74"/>
                </a:solidFill>
                <a:latin typeface="Poppins"/>
              </a:rPr>
              <a:t>HOW IT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84248"/>
            <a:ext cx="274320" cy="274320"/>
          </a:xfrm>
          <a:prstGeom prst="roundRect">
            <a:avLst>
              <a:gd name="adj" fmla="val 6000"/>
            </a:avLst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274320" cy="3108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617"/>
                </a:solidFill>
                <a:latin typeface="Poppins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85415"/>
            <a:ext cx="3291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30" b="0">
                <a:solidFill>
                  <a:srgbClr val="5A5A5A"/>
                </a:solidFill>
                <a:latin typeface="Poppins"/>
              </a:rPr>
              <a:t>Read-only adapters normalise mail, chat, tickets, incidents, docs and transcripts into one record shape per account.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3464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816352"/>
            <a:ext cx="274320" cy="3108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788920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617"/>
                </a:solidFill>
                <a:latin typeface="Poppins"/>
              </a:rPr>
              <a:t>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035808"/>
            <a:ext cx="3291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30" b="0">
                <a:solidFill>
                  <a:srgbClr val="5A5A5A"/>
                </a:solidFill>
                <a:latin typeface="Poppins"/>
              </a:rPr>
              <a:t>Agentic BM25 retrieval exposed as tools; the model searches, fetches full text and re-queries. Account-scoped index.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85031"/>
            <a:ext cx="274320" cy="274320"/>
          </a:xfrm>
          <a:prstGeom prst="roundRect">
            <a:avLst>
              <a:gd name="adj" fmla="val 6000"/>
            </a:avLst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666744"/>
            <a:ext cx="274320" cy="3108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639312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617"/>
                </a:solidFill>
                <a:latin typeface="Poppins"/>
              </a:rPr>
              <a:t>Answer or refuse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886200"/>
            <a:ext cx="3291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30" b="0">
                <a:solidFill>
                  <a:srgbClr val="5A5A5A"/>
                </a:solidFill>
                <a:latin typeface="Poppins"/>
              </a:rPr>
              <a:t>Every sentence cites a record retrieved in that request; the server re-verifies every citation. No evidence → refusal that names the gap and the person to ask.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535423"/>
            <a:ext cx="274320" cy="274320"/>
          </a:xfrm>
          <a:prstGeom prst="roundRect">
            <a:avLst>
              <a:gd name="adj" fmla="val 6000"/>
            </a:avLst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517136"/>
            <a:ext cx="274320" cy="3108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489703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617"/>
                </a:solidFill>
                <a:latin typeface="Poppins"/>
              </a:rPr>
              <a:t>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736592"/>
            <a:ext cx="3291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30" b="0">
                <a:solidFill>
                  <a:srgbClr val="5A5A5A"/>
                </a:solidFill>
                <a:latin typeface="Poppins"/>
              </a:rPr>
              <a:t>Mark resolved → draft entry (symptom, root cause, steps, prevention, dead ends, contradicted docs) → one-click confirm → searchable immediately.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385815"/>
            <a:ext cx="274320" cy="274320"/>
          </a:xfrm>
          <a:prstGeom prst="roundRect">
            <a:avLst>
              <a:gd name="adj" fmla="val 6000"/>
            </a:avLst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5367527"/>
            <a:ext cx="274320" cy="3108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340095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617"/>
                </a:solidFill>
                <a:latin typeface="Poppins"/>
              </a:rPr>
              <a:t>Compound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586983"/>
            <a:ext cx="3291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30" b="0">
                <a:solidFill>
                  <a:srgbClr val="5A5A5A"/>
                </a:solidFill>
                <a:latin typeface="Poppins"/>
              </a:rPr>
              <a:t>The next person asking gets an answer instead of an escalation. Plain chat vs knowledge layer shown side by side.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1600200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6E74"/>
                </a:solidFill>
                <a:latin typeface="Poppins"/>
              </a:rPr>
              <a:t>LIVE DEMO · 3 personas, 2 isolated accounts</a:t>
            </a:r>
          </a:p>
        </p:txBody>
      </p:sp>
      <p:pic>
        <p:nvPicPr>
          <p:cNvPr id="30" name="Picture 29" descr="02-brief.png"/>
          <p:cNvPicPr>
            <a:picLocks noChangeAspect="1"/>
          </p:cNvPicPr>
          <p:nvPr/>
        </p:nvPicPr>
        <p:blipFill>
          <a:blip r:embed="rId2"/>
          <a:srcRect t="5000" b="44767"/>
          <a:stretch>
            <a:fillRect/>
          </a:stretch>
        </p:blipFill>
        <p:spPr>
          <a:xfrm>
            <a:off x="4480560" y="1874519"/>
            <a:ext cx="3931920" cy="1234440"/>
          </a:xfrm>
          <a:prstGeom prst="rect">
            <a:avLst/>
          </a:prstGeom>
          <a:ln w="6350">
            <a:solidFill>
              <a:srgbClr val="D1D1D1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4480560" y="3127248"/>
            <a:ext cx="393192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A5A5A"/>
                </a:solidFill>
                <a:latin typeface="Poppins"/>
              </a:rPr>
              <a:t>Priya · return-from-leave brief over Apr 1–14, every line linked to its source</a:t>
            </a:r>
          </a:p>
        </p:txBody>
      </p:sp>
      <p:pic>
        <p:nvPicPr>
          <p:cNvPr id="32" name="Picture 31" descr="04-capture-draft.png"/>
          <p:cNvPicPr>
            <a:picLocks noChangeAspect="1"/>
          </p:cNvPicPr>
          <p:nvPr/>
        </p:nvPicPr>
        <p:blipFill>
          <a:blip r:embed="rId3"/>
          <a:srcRect t="9000" b="40767"/>
          <a:stretch>
            <a:fillRect/>
          </a:stretch>
        </p:blipFill>
        <p:spPr>
          <a:xfrm>
            <a:off x="4480560" y="3383280"/>
            <a:ext cx="3931920" cy="1234440"/>
          </a:xfrm>
          <a:prstGeom prst="rect">
            <a:avLst/>
          </a:prstGeom>
          <a:ln w="6350">
            <a:solidFill>
              <a:srgbClr val="D1D1D1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4480560" y="4636008"/>
            <a:ext cx="393192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A5A5A"/>
                </a:solidFill>
                <a:latin typeface="Poppins"/>
              </a:rPr>
              <a:t>Meera · resolving INC-7310 auto-drafts a knowledge entry; confirm in one click</a:t>
            </a:r>
          </a:p>
        </p:txBody>
      </p:sp>
      <p:pic>
        <p:nvPicPr>
          <p:cNvPr id="34" name="Picture 33" descr="06-answered-from-captured.png"/>
          <p:cNvPicPr>
            <a:picLocks noChangeAspect="1"/>
          </p:cNvPicPr>
          <p:nvPr/>
        </p:nvPicPr>
        <p:blipFill>
          <a:blip r:embed="rId4"/>
          <a:srcRect t="29000" b="20767"/>
          <a:stretch>
            <a:fillRect/>
          </a:stretch>
        </p:blipFill>
        <p:spPr>
          <a:xfrm>
            <a:off x="4480560" y="4892040"/>
            <a:ext cx="3931920" cy="1234440"/>
          </a:xfrm>
          <a:prstGeom prst="rect">
            <a:avLst/>
          </a:prstGeom>
          <a:ln w="6350">
            <a:solidFill>
              <a:srgbClr val="D1D1D1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4480560" y="6144768"/>
            <a:ext cx="393192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A5A5A"/>
                </a:solidFill>
                <a:latin typeface="Poppins"/>
              </a:rPr>
              <a:t>Meera · the question refused a minute earlier, now answered from the new entry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6291072"/>
            <a:ext cx="3931920" cy="137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595360" y="1600200"/>
            <a:ext cx="3136392" cy="2240280"/>
          </a:xfrm>
          <a:prstGeom prst="roundRect">
            <a:avLst>
              <a:gd name="adj" fmla="val 6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32520" y="1673352"/>
            <a:ext cx="28803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6E74"/>
                </a:solidFill>
                <a:latin typeface="Poppins"/>
              </a:rPr>
              <a:t>CLAUDE CODE USAGE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1938528"/>
            <a:ext cx="2880360" cy="1874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1">
                <a:solidFill>
                  <a:srgbClr val="161617"/>
                </a:solidFill>
                <a:latin typeface="Poppins"/>
              </a:rPr>
              <a:t>CLAUDE.md </a:t>
            </a:r>
            <a:r>
              <a:rPr sz="819" b="0">
                <a:solidFill>
                  <a:srgbClr val="161617"/>
                </a:solidFill>
                <a:latin typeface="Poppins"/>
              </a:rPr>
              <a:t>project memory: architecture, demo script, rules (grounded or silent, one feature per commit)</a:t>
            </a:r>
          </a:p>
          <a:p>
            <a:pPr algn="l">
              <a:lnSpc>
                <a:spcPct val="102000"/>
              </a:lnSpc>
            </a:pPr>
            <a:r>
              <a:rPr sz="819" b="1">
                <a:solidFill>
                  <a:srgbClr val="161617"/>
                </a:solidFill>
                <a:latin typeface="Poppins"/>
              </a:rPr>
              <a:t>6 custom slash commands </a:t>
            </a:r>
            <a:r>
              <a:rPr sz="819" b="0">
                <a:solidFill>
                  <a:srgbClr val="161617"/>
                </a:solidFill>
                <a:latin typeface="Poppins"/>
              </a:rPr>
              <a:t>(/setup, /add-seed-data, /add-feature, /add-connector, /demo-test, /fix-theme)</a:t>
            </a:r>
          </a:p>
          <a:p>
            <a:pPr algn="l">
              <a:lnSpc>
                <a:spcPct val="102000"/>
              </a:lnSpc>
            </a:pPr>
            <a:r>
              <a:rPr sz="819" b="1">
                <a:solidFill>
                  <a:srgbClr val="161617"/>
                </a:solidFill>
                <a:latin typeface="Poppins"/>
              </a:rPr>
              <a:t>Plan mode </a:t>
            </a:r>
            <a:r>
              <a:rPr sz="819" b="0">
                <a:solidFill>
                  <a:srgbClr val="161617"/>
                </a:solidFill>
                <a:latin typeface="Poppins"/>
              </a:rPr>
              <a:t>for the Express+Mongo → Vercel+JSON pivot; 8 design questions answered before code changed</a:t>
            </a:r>
          </a:p>
          <a:p>
            <a:pPr algn="l">
              <a:lnSpc>
                <a:spcPct val="102000"/>
              </a:lnSpc>
            </a:pPr>
            <a:r>
              <a:rPr sz="819" b="1">
                <a:solidFill>
                  <a:srgbClr val="161617"/>
                </a:solidFill>
                <a:latin typeface="Poppins"/>
              </a:rPr>
              <a:t>Verified in the running app </a:t>
            </a:r>
            <a:r>
              <a:rPr sz="819" b="0">
                <a:solidFill>
                  <a:srgbClr val="161617"/>
                </a:solidFill>
                <a:latin typeface="Poppins"/>
              </a:rPr>
              <a:t>via browser preview and headless Chrome (CDP) with stubbed and live model calls</a:t>
            </a:r>
          </a:p>
          <a:p>
            <a:pPr algn="l">
              <a:lnSpc>
                <a:spcPct val="102000"/>
              </a:lnSpc>
            </a:pPr>
            <a:r>
              <a:rPr sz="819" b="1">
                <a:solidFill>
                  <a:srgbClr val="161617"/>
                </a:solidFill>
                <a:latin typeface="Poppins"/>
              </a:rPr>
              <a:t>40 commits, 35 co-authored </a:t>
            </a:r>
            <a:r>
              <a:rPr sz="819" b="0">
                <a:solidFill>
                  <a:srgbClr val="161617"/>
                </a:solidFill>
                <a:latin typeface="Poppins"/>
              </a:rPr>
              <a:t>with Claude — git log reads as the build log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3931920"/>
            <a:ext cx="3136392" cy="118872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32520" y="3995928"/>
            <a:ext cx="28803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6E74"/>
                </a:solidFill>
                <a:latin typeface="Poppins"/>
              </a:rPr>
              <a:t>TECH &amp; FEASIBILITY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4251960"/>
            <a:ext cx="288036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19" b="0">
                <a:solidFill>
                  <a:srgbClr val="5A5A5A"/>
                </a:solidFill>
                <a:latin typeface="Poppins"/>
              </a:rPr>
              <a:t>React 18 + Vite · Vercel functions · MiniSearch BM25 · gpt-oss-120b via OpenRouter through a provider-neutral loop (Claude/Bedrock = one file) · synthetic data only · mocked connectors documented per source · second account = configuration, not a rebuild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5212080"/>
            <a:ext cx="3136392" cy="548640"/>
          </a:xfrm>
          <a:prstGeom prst="roundRect">
            <a:avLst>
              <a:gd name="adj" fmla="val 6000"/>
            </a:avLst>
          </a:prstGeom>
          <a:solidFill>
            <a:srgbClr val="006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2520" y="5239512"/>
            <a:ext cx="28803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Poppins"/>
              </a:rPr>
              <a:t>Demo: </a:t>
            </a:r>
            <a:r>
              <a:rPr sz="850" b="0">
                <a:solidFill>
                  <a:srgbClr val="FFFFFF"/>
                </a:solidFill>
                <a:latin typeface="Poppins"/>
              </a:rPr>
              <a:t>&lt;add Vercel URL&gt;</a:t>
            </a:r>
          </a:p>
          <a:p>
            <a:pPr algn="l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Poppins"/>
              </a:rPr>
              <a:t>Code: </a:t>
            </a:r>
            <a:r>
              <a:rPr sz="850" b="0">
                <a:solidFill>
                  <a:srgbClr val="FFFFFF"/>
                </a:solidFill>
                <a:latin typeface="Poppins"/>
              </a:rPr>
              <a:t>github.com/AryanKulathinal/COIH_D3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5852160"/>
            <a:ext cx="3136392" cy="45720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32520" y="5870448"/>
            <a:ext cx="2880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006E74"/>
                </a:solidFill>
                <a:latin typeface="Poppins"/>
              </a:rPr>
              <a:t>Roadmap: </a:t>
            </a:r>
            <a:r>
              <a:rPr sz="780" b="0">
                <a:solidFill>
                  <a:srgbClr val="5A5A5A"/>
                </a:solidFill>
                <a:latin typeface="Poppins"/>
              </a:rPr>
              <a:t>guided incident triage · exit capture · OAuth adapters · hybrid retrieval · brief delivered in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1067</Words>
  <Application>Microsoft Office PowerPoint</Application>
  <PresentationFormat>Widescreen</PresentationFormat>
  <Paragraphs>107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Rithin Samuel(UST,IN)</cp:lastModifiedBy>
  <cp:revision>2</cp:revision>
  <dcterms:created xsi:type="dcterms:W3CDTF">2013-01-27T09:14:16Z</dcterms:created>
  <dcterms:modified xsi:type="dcterms:W3CDTF">2026-09-27T20:19:53Z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2026-09-27T20:19:53Z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e29061f1-0884-4c5c-950a-8a4141371801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